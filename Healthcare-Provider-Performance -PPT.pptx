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rimson Pro SemiBold" panose="020B0604020202020204" charset="0"/>
      <p:regular r:id="rId13"/>
    </p:embeddedFont>
    <p:embeddedFont>
      <p:font typeface="Heebo" pitchFamily="2" charset="-79"/>
      <p:regular r:id="rId14"/>
    </p:embeddedFont>
    <p:embeddedFont>
      <p:font typeface="Heebo Bold" charset="-79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8356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7297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Healthcare Provider Performance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055787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Medicare Cost &amp; Utilization Analytics with Machine Learning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6682" y="1562298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 End-to-End ML + Power BI Solution for Executive Decision-Making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2012950"/>
            <a:ext cx="10868745" cy="1217513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2012950"/>
            <a:ext cx="3622882" cy="1217513"/>
          </a:xfrm>
          <a:custGeom>
            <a:avLst/>
            <a:gdLst/>
            <a:ahLst/>
            <a:cxnLst/>
            <a:rect l="l" t="t" r="r" b="b"/>
            <a:pathLst>
              <a:path w="3622882" h="1217513">
                <a:moveTo>
                  <a:pt x="20674" y="0"/>
                </a:moveTo>
                <a:lnTo>
                  <a:pt x="3622882" y="0"/>
                </a:lnTo>
                <a:lnTo>
                  <a:pt x="3622882" y="1217513"/>
                </a:lnTo>
                <a:lnTo>
                  <a:pt x="20674" y="1217513"/>
                </a:lnTo>
                <a:arcTo wR="20674" hR="20674" stAng="5400000" swAng="5400000"/>
                <a:lnTo>
                  <a:pt x="0" y="20674"/>
                </a:lnTo>
                <a:arcTo wR="20674" hR="20674" stAng="10800000" swAng="5400000"/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826769" y="2178248"/>
            <a:ext cx="32922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ML Pipeline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6769" y="2535932"/>
            <a:ext cx="329229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Gradient Boosting model with 89% accuracy classifying provider utilization levels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84357" y="2012950"/>
            <a:ext cx="3622882" cy="1217513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0" name="Shape 8"/>
          <p:cNvSpPr/>
          <p:nvPr/>
        </p:nvSpPr>
        <p:spPr>
          <a:xfrm>
            <a:off x="4284357" y="2012950"/>
            <a:ext cx="19050" cy="1217513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1" name="Text 9"/>
          <p:cNvSpPr/>
          <p:nvPr/>
        </p:nvSpPr>
        <p:spPr>
          <a:xfrm>
            <a:off x="4449651" y="2178248"/>
            <a:ext cx="32922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Power BI Dashboards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49651" y="2535932"/>
            <a:ext cx="329229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Three integrated dashboards for executive, provider, and cost-level analytics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07239" y="2012950"/>
            <a:ext cx="3622882" cy="1217513"/>
          </a:xfrm>
          <a:custGeom>
            <a:avLst/>
            <a:gdLst/>
            <a:ahLst/>
            <a:cxnLst/>
            <a:rect l="l" t="t" r="r" b="b"/>
            <a:pathLst>
              <a:path w="3622882" h="1217513">
                <a:moveTo>
                  <a:pt x="0" y="0"/>
                </a:moveTo>
                <a:lnTo>
                  <a:pt x="3602208" y="0"/>
                </a:lnTo>
                <a:arcTo wR="20674" hR="20674" stAng="16200000" swAng="5400000"/>
                <a:lnTo>
                  <a:pt x="3622882" y="1196839"/>
                </a:lnTo>
                <a:arcTo wR="20674" hR="20674" stAng="0" swAng="5400000"/>
                <a:lnTo>
                  <a:pt x="0" y="1217513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4" name="Shape 12"/>
          <p:cNvSpPr/>
          <p:nvPr/>
        </p:nvSpPr>
        <p:spPr>
          <a:xfrm>
            <a:off x="7907239" y="2012950"/>
            <a:ext cx="19050" cy="1217513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5" name="Text 13"/>
          <p:cNvSpPr/>
          <p:nvPr/>
        </p:nvSpPr>
        <p:spPr>
          <a:xfrm>
            <a:off x="8072533" y="2178248"/>
            <a:ext cx="32922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Scale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72533" y="2535932"/>
            <a:ext cx="329229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100,000+ Medicare provider records across all 50 U.S. states and territories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1475" y="3499148"/>
            <a:ext cx="5330989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12,540</a:t>
            </a:r>
            <a:endParaRPr lang="en-US" sz="4250" dirty="0"/>
          </a:p>
        </p:txBody>
      </p:sp>
      <p:sp>
        <p:nvSpPr>
          <p:cNvPr id="18" name="Text 16"/>
          <p:cNvSpPr/>
          <p:nvPr/>
        </p:nvSpPr>
        <p:spPr>
          <a:xfrm>
            <a:off x="661475" y="4251623"/>
            <a:ext cx="53309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Total Providers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99132" y="3499148"/>
            <a:ext cx="5331089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$78.5M</a:t>
            </a:r>
            <a:endParaRPr lang="en-US" sz="4250" dirty="0"/>
          </a:p>
        </p:txBody>
      </p:sp>
      <p:sp>
        <p:nvSpPr>
          <p:cNvPr id="20" name="Text 18"/>
          <p:cNvSpPr/>
          <p:nvPr/>
        </p:nvSpPr>
        <p:spPr>
          <a:xfrm>
            <a:off x="6199132" y="4251623"/>
            <a:ext cx="53310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Medicare Payments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1475" y="4923433"/>
            <a:ext cx="5330989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89%</a:t>
            </a:r>
            <a:endParaRPr lang="en-US" sz="4250" dirty="0"/>
          </a:p>
        </p:txBody>
      </p:sp>
      <p:sp>
        <p:nvSpPr>
          <p:cNvPr id="22" name="Text 20"/>
          <p:cNvSpPr/>
          <p:nvPr/>
        </p:nvSpPr>
        <p:spPr>
          <a:xfrm>
            <a:off x="661475" y="5675908"/>
            <a:ext cx="53309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Model Accuracy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99132" y="4923433"/>
            <a:ext cx="5331089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895K</a:t>
            </a:r>
            <a:endParaRPr lang="en-US" sz="4250" dirty="0"/>
          </a:p>
        </p:txBody>
      </p:sp>
      <p:sp>
        <p:nvSpPr>
          <p:cNvPr id="24" name="Text 22"/>
          <p:cNvSpPr/>
          <p:nvPr/>
        </p:nvSpPr>
        <p:spPr>
          <a:xfrm>
            <a:off x="6199132" y="5675908"/>
            <a:ext cx="53310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Services Rendered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56682" y="6120408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Analytics &amp; Data Science Team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54819"/>
            <a:ext cx="1305785" cy="227806"/>
          </a:xfrm>
          <a:prstGeom prst="roundRect">
            <a:avLst>
              <a:gd name="adj" fmla="val 7895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51365" y="499765"/>
            <a:ext cx="1735590" cy="13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BUSINESS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736898"/>
            <a:ext cx="10868745" cy="468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The Challenge: Raw Healthcare Data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61475" y="1409005"/>
            <a:ext cx="108687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Medicare datasets contain rich performance signals — but without structure, classification, and visualization, they remain opaque to decision-makers. This project addresses five critical gaps standing between raw data and actionable provider strategy.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53528" y="2019002"/>
            <a:ext cx="5467412" cy="4386362"/>
          </a:xfrm>
          <a:prstGeom prst="roundRect">
            <a:avLst>
              <a:gd name="adj" fmla="val 513"/>
            </a:avLst>
          </a:prstGeom>
          <a:solidFill>
            <a:srgbClr val="0066CC"/>
          </a:solidFill>
          <a:ln/>
        </p:spPr>
      </p:sp>
      <p:sp>
        <p:nvSpPr>
          <p:cNvPr id="7" name="Text 5"/>
          <p:cNvSpPr/>
          <p:nvPr/>
        </p:nvSpPr>
        <p:spPr>
          <a:xfrm>
            <a:off x="703344" y="2154833"/>
            <a:ext cx="5167779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The Core Gaps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03344" y="2541786"/>
            <a:ext cx="337236" cy="337245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759501" y="2569865"/>
            <a:ext cx="224824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176407" y="2593280"/>
            <a:ext cx="4694715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Complexity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176407" y="2963267"/>
            <a:ext cx="46947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100,000+ Medicare provider records with inconsistent specialty classifications, missing payment patterns, and heterogeneous service codes that resist simple aggregation.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3344" y="3920728"/>
            <a:ext cx="337236" cy="337245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759501" y="3948807"/>
            <a:ext cx="224824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176407" y="3972223"/>
            <a:ext cx="4694715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Questions Unanswered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76407" y="4342209"/>
            <a:ext cx="46947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Which provider types drive utilization? How do states compare on cost efficiency? What services account for the highest Medicare expenditures?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03344" y="5299670"/>
            <a:ext cx="337236" cy="337245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759501" y="5327749"/>
            <a:ext cx="224824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176407" y="5351165"/>
            <a:ext cx="4694715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Business Need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76407" y="5721152"/>
            <a:ext cx="46947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Classify providers by utilization level — Low, Medium, or High — to prioritize resource allocation and intervention programs.</a:t>
            </a:r>
            <a:endParaRPr lang="en-US" sz="115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5053" y="2171799"/>
            <a:ext cx="5251517" cy="1393527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530117" y="2340670"/>
            <a:ext cx="4837587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Decision Gap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6530117" y="2710656"/>
            <a:ext cx="483758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Executives currently lack real-time, actionable insights on payment drivers, service utilization patterns, and cost efficiency benchmarks — decisions are delayed or made without data.</a:t>
            </a:r>
            <a:endParaRPr lang="en-US" sz="115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5053" y="3701157"/>
            <a:ext cx="5251517" cy="1622127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530117" y="3870027"/>
            <a:ext cx="4837587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The Opportunity</a:t>
            </a:r>
            <a:endParaRPr lang="en-US" sz="1450" dirty="0"/>
          </a:p>
        </p:txBody>
      </p:sp>
      <p:sp>
        <p:nvSpPr>
          <p:cNvPr id="25" name="Text 21"/>
          <p:cNvSpPr/>
          <p:nvPr/>
        </p:nvSpPr>
        <p:spPr>
          <a:xfrm>
            <a:off x="6530117" y="4240014"/>
            <a:ext cx="483758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By combining machine learning classification with Power BI dashboards, this solution unlocks provider performance insights that are immediately actionable at the executive level — enabling a 5–10% potential cost reduction through targeted interventions.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285053" y="5476081"/>
            <a:ext cx="5251517" cy="776486"/>
          </a:xfrm>
          <a:prstGeom prst="roundRect">
            <a:avLst>
              <a:gd name="adj" fmla="val 2895"/>
            </a:avLst>
          </a:prstGeom>
          <a:solidFill>
            <a:srgbClr val="CCD7FF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4869" y="5676900"/>
            <a:ext cx="187320" cy="1498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772006" y="5635724"/>
            <a:ext cx="46147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2% of providers account for 15% of total Medicare payments — identifying these outliers is a primary use case for this solution.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54819"/>
            <a:ext cx="570890" cy="125710"/>
          </a:xfrm>
          <a:prstGeom prst="roundRect">
            <a:avLst>
              <a:gd name="adj" fmla="val 7894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11083" y="479623"/>
            <a:ext cx="1081259" cy="76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ARCHITECTURE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661475" y="59699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End-to-End ML Pipeline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61475" y="917476"/>
            <a:ext cx="11478330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solution follows a structured, production-grade machine learning workflow from raw data ingestion through model deployment into Power BI — ensuring reproducibility, accuracy, and operational scalability.</a:t>
            </a:r>
            <a:endParaRPr lang="en-US" sz="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063030"/>
            <a:ext cx="10868745" cy="469483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55023" y="4131907"/>
            <a:ext cx="1613822" cy="587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Preprocessing &amp; EDA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3255023" y="4803383"/>
            <a:ext cx="1613822" cy="529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Clean data, handle outliers, explore patterns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398903" y="4602202"/>
            <a:ext cx="1613822" cy="293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Model Building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7398903" y="4979744"/>
            <a:ext cx="1613822" cy="352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Compare LR, RF, GB models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188227" y="1486662"/>
            <a:ext cx="1613822" cy="293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Ingestion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1188227" y="1864204"/>
            <a:ext cx="1613822" cy="352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Load raw Medicare claims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9404137" y="1486662"/>
            <a:ext cx="1613822" cy="587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Validation &amp; Tuning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9404137" y="2158138"/>
            <a:ext cx="1613822" cy="529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5-fold CV and hyperparameter optimization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352682" y="1486662"/>
            <a:ext cx="1613822" cy="587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Feature Engineering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5352682" y="2158138"/>
            <a:ext cx="1613822" cy="352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Create predictive variables</a:t>
            </a:r>
            <a:endParaRPr lang="en-US" sz="14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8775" y="5838031"/>
            <a:ext cx="5346269" cy="29497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69521" y="5850731"/>
            <a:ext cx="5225522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Ingestion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769521" y="6021189"/>
            <a:ext cx="5225522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Raw Medicare provider claims and utilization records ingested from CMS data sources — 100,000+ records, 27 features each.</a:t>
            </a:r>
            <a:endParaRPr lang="en-US" sz="65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8775" y="6190258"/>
            <a:ext cx="5346269" cy="29497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69521" y="6202958"/>
            <a:ext cx="5225522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Preprocessing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769521" y="6373416"/>
            <a:ext cx="5225522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Missing value imputation, outlier detection, categorical encoding, and min-max normalization applied before any modeling.</a:t>
            </a:r>
            <a:endParaRPr lang="en-US" sz="65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8775" y="6542484"/>
            <a:ext cx="5346269" cy="29497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69521" y="6555184"/>
            <a:ext cx="5225522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EDA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769521" y="6725642"/>
            <a:ext cx="5225522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Statistical and visual exploration of provider types, state distributions, service frequencies, and payment variance patterns.</a:t>
            </a:r>
            <a:endParaRPr lang="en-US" sz="65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90301" y="5838031"/>
            <a:ext cx="5346269" cy="29497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311048" y="5850731"/>
            <a:ext cx="5225522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Feature Engineering</a:t>
            </a:r>
            <a:endParaRPr lang="en-US" sz="800" dirty="0"/>
          </a:p>
        </p:txBody>
      </p:sp>
      <p:sp>
        <p:nvSpPr>
          <p:cNvPr id="28" name="Text 21"/>
          <p:cNvSpPr/>
          <p:nvPr/>
        </p:nvSpPr>
        <p:spPr>
          <a:xfrm>
            <a:off x="6311048" y="6021189"/>
            <a:ext cx="5225522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Derived features include utilization ratios, payment-per-beneficiary metrics, and service concentration scores.</a:t>
            </a:r>
            <a:endParaRPr lang="en-US" sz="65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90301" y="6190258"/>
            <a:ext cx="5346269" cy="294977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311048" y="6202958"/>
            <a:ext cx="5225522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Model Selection</a:t>
            </a:r>
            <a:endParaRPr lang="en-US" sz="800" dirty="0"/>
          </a:p>
        </p:txBody>
      </p:sp>
      <p:sp>
        <p:nvSpPr>
          <p:cNvPr id="31" name="Text 23"/>
          <p:cNvSpPr/>
          <p:nvPr/>
        </p:nvSpPr>
        <p:spPr>
          <a:xfrm>
            <a:off x="6311048" y="6373416"/>
            <a:ext cx="5225522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Three algorithms benchmarked head-to-head. Gradient Boosting selected at 89% accuracy and 0.91 AUC-ROC.</a:t>
            </a:r>
            <a:endParaRPr lang="en-US" sz="65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90301" y="6542484"/>
            <a:ext cx="5346269" cy="294977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311048" y="6555184"/>
            <a:ext cx="5225522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Deployment</a:t>
            </a:r>
            <a:endParaRPr lang="en-US" sz="800" dirty="0"/>
          </a:p>
        </p:txBody>
      </p:sp>
      <p:sp>
        <p:nvSpPr>
          <p:cNvPr id="34" name="Text 25"/>
          <p:cNvSpPr/>
          <p:nvPr/>
        </p:nvSpPr>
        <p:spPr>
          <a:xfrm>
            <a:off x="6311048" y="6725642"/>
            <a:ext cx="5225522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Model predictions integrated into Power BI via scheduled refresh — dashboards update automatically with new claims data monthly.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64145"/>
            <a:ext cx="1002084" cy="184448"/>
          </a:xfrm>
          <a:prstGeom prst="roundRect">
            <a:avLst>
              <a:gd name="adj" fmla="val 7902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34300" y="500559"/>
            <a:ext cx="1466020" cy="11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 FOUNDATION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684212"/>
            <a:ext cx="10868745" cy="379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Dataset Overview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661475" y="1197471"/>
            <a:ext cx="11478330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analysis is grounded in a comprehensive Medicare provider dataset representing the full breadth of U.S. healthcare delivery — spanning geography, specialty, and service type.</a:t>
            </a:r>
            <a:endParaRPr lang="en-US" sz="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566565"/>
            <a:ext cx="5844433" cy="8841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9133" y="1700709"/>
            <a:ext cx="5122635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Scale &amp; Scope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249133" y="1979613"/>
            <a:ext cx="5122635" cy="336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100,000</a:t>
            </a: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U.S. Medicare provider transactions | </a:t>
            </a: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27 features</a:t>
            </a: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per record | Annual claims period | All </a:t>
            </a: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50 states</a:t>
            </a: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territories covered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539901"/>
            <a:ext cx="5844433" cy="8841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49133" y="2674045"/>
            <a:ext cx="5122635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Provider Universe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1249133" y="2952948"/>
            <a:ext cx="5122635" cy="336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Physicians, acute care hospitals, outpatient clinics, specialty practices, and other licensed healthcare facilities — representing the full Medicare provider ecosystem.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513237"/>
            <a:ext cx="5844433" cy="88413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49133" y="3647380"/>
            <a:ext cx="5122635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Feature Categories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1249133" y="3926284"/>
            <a:ext cx="5122635" cy="336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Provider ID, specialty code, state, HCPCS service code, beneficiary count, submitted charges, allowed amount, Medicare payment, and derived utilization classification target.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6721108" y="1466255"/>
            <a:ext cx="4902772" cy="4927600"/>
          </a:xfrm>
          <a:prstGeom prst="roundRect">
            <a:avLst>
              <a:gd name="adj" fmla="val 372"/>
            </a:avLst>
          </a:prstGeom>
          <a:solidFill>
            <a:srgbClr val="003366"/>
          </a:solidFill>
          <a:ln/>
        </p:spPr>
      </p:sp>
      <p:sp>
        <p:nvSpPr>
          <p:cNvPr id="16" name="Text 11"/>
          <p:cNvSpPr/>
          <p:nvPr/>
        </p:nvSpPr>
        <p:spPr>
          <a:xfrm>
            <a:off x="6842549" y="1555452"/>
            <a:ext cx="4659890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Feature Inventory: 27 Columns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842549" y="1845469"/>
            <a:ext cx="242881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842549" y="2039144"/>
            <a:ext cx="4659890" cy="127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9" name="Text 14"/>
          <p:cNvSpPr/>
          <p:nvPr/>
        </p:nvSpPr>
        <p:spPr>
          <a:xfrm>
            <a:off x="6842549" y="2125266"/>
            <a:ext cx="4659890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Provider Identifiers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842549" y="2404170"/>
            <a:ext cx="4659890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NPI, specialty type, organization name, place of service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6842549" y="2752923"/>
            <a:ext cx="242881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842549" y="2946598"/>
            <a:ext cx="4659890" cy="127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3" name="Text 18"/>
          <p:cNvSpPr/>
          <p:nvPr/>
        </p:nvSpPr>
        <p:spPr>
          <a:xfrm>
            <a:off x="6842549" y="3032720"/>
            <a:ext cx="4659890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Geographic Variables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6842549" y="3311624"/>
            <a:ext cx="4659890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State, region, urban/rural classification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6842549" y="3660378"/>
            <a:ext cx="242881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6842549" y="3854053"/>
            <a:ext cx="4659890" cy="127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7" name="Text 22"/>
          <p:cNvSpPr/>
          <p:nvPr/>
        </p:nvSpPr>
        <p:spPr>
          <a:xfrm>
            <a:off x="6842549" y="3940175"/>
            <a:ext cx="4659890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Service Metrics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6842549" y="4219079"/>
            <a:ext cx="4659890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HCPCS code, service count, unique beneficiaries served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6842549" y="4567833"/>
            <a:ext cx="242881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6842549" y="4761508"/>
            <a:ext cx="4659890" cy="127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31" name="Text 26"/>
          <p:cNvSpPr/>
          <p:nvPr/>
        </p:nvSpPr>
        <p:spPr>
          <a:xfrm>
            <a:off x="6842549" y="4847630"/>
            <a:ext cx="4659890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Financial Variables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6842549" y="5126534"/>
            <a:ext cx="4659890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Submitted charges, Medicare allowed amount, actual payment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6842549" y="5475288"/>
            <a:ext cx="242881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05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6842549" y="5668963"/>
            <a:ext cx="4659890" cy="127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35" name="Text 30"/>
          <p:cNvSpPr/>
          <p:nvPr/>
        </p:nvSpPr>
        <p:spPr>
          <a:xfrm>
            <a:off x="6842549" y="5755084"/>
            <a:ext cx="4659890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Derived Features</a:t>
            </a:r>
            <a:endParaRPr lang="en-US" sz="1150" dirty="0"/>
          </a:p>
        </p:txBody>
      </p:sp>
      <p:sp>
        <p:nvSpPr>
          <p:cNvPr id="36" name="Text 31"/>
          <p:cNvSpPr/>
          <p:nvPr/>
        </p:nvSpPr>
        <p:spPr>
          <a:xfrm>
            <a:off x="6842549" y="6033988"/>
            <a:ext cx="4659890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Utilization class (Low/Med/High), payment variance ratio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6972"/>
            <a:ext cx="272150" cy="152995"/>
          </a:xfrm>
          <a:prstGeom prst="roundRect">
            <a:avLst>
              <a:gd name="adj" fmla="val 7905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21898" y="567134"/>
            <a:ext cx="760890" cy="92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EDA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661475" y="714474"/>
            <a:ext cx="10868745" cy="315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Exploratory Data Analysis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661475" y="1121569"/>
            <a:ext cx="11478330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Systematic exploration of the dataset surfaced the structural patterns that drive provider cost and utilization — informing both feature engineering choices and dashboard design priorities.</a:t>
            </a:r>
            <a:endParaRPr lang="en-US" sz="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89459"/>
            <a:ext cx="5311444" cy="38232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5281811"/>
            <a:ext cx="5311444" cy="259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Physicians dominate the provider mix at 45%, yet hospitals disproportionately drive payment volumes due to higher per-service costs.</a:t>
            </a:r>
            <a:endParaRPr lang="en-US" sz="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5126" y="1389459"/>
            <a:ext cx="5311444" cy="382329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25126" y="5281811"/>
            <a:ext cx="5311444" cy="259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Four states — CA, TX, FL, NY — account for 39% of all Medicare services, reflecting both population size and provider density.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661475" y="5665688"/>
            <a:ext cx="2671100" cy="655241"/>
          </a:xfrm>
          <a:prstGeom prst="roundRect">
            <a:avLst>
              <a:gd name="adj" fmla="val 2307"/>
            </a:avLst>
          </a:prstGeom>
          <a:solidFill>
            <a:srgbClr val="F2EEEE"/>
          </a:solidFill>
          <a:ln/>
        </p:spPr>
      </p:sp>
      <p:sp>
        <p:nvSpPr>
          <p:cNvPr id="11" name="Text 7"/>
          <p:cNvSpPr/>
          <p:nvPr/>
        </p:nvSpPr>
        <p:spPr>
          <a:xfrm>
            <a:off x="762179" y="5766395"/>
            <a:ext cx="246969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Service Frequency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762179" y="5960666"/>
            <a:ext cx="2469691" cy="259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Office visits </a:t>
            </a:r>
            <a:r>
              <a:rPr lang="en-US" sz="7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35%</a:t>
            </a: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| Diagnostics </a:t>
            </a:r>
            <a:r>
              <a:rPr lang="en-US" sz="7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25%</a:t>
            </a: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| Procedures </a:t>
            </a:r>
            <a:r>
              <a:rPr lang="en-US" sz="7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20%</a:t>
            </a: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| Other </a:t>
            </a:r>
            <a:r>
              <a:rPr lang="en-US" sz="7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20%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3393990" y="5665688"/>
            <a:ext cx="2671100" cy="655241"/>
          </a:xfrm>
          <a:prstGeom prst="roundRect">
            <a:avLst>
              <a:gd name="adj" fmla="val 2307"/>
            </a:avLst>
          </a:prstGeom>
          <a:solidFill>
            <a:srgbClr val="F2EEEE"/>
          </a:solidFill>
          <a:ln/>
        </p:spPr>
      </p:sp>
      <p:sp>
        <p:nvSpPr>
          <p:cNvPr id="14" name="Text 10"/>
          <p:cNvSpPr/>
          <p:nvPr/>
        </p:nvSpPr>
        <p:spPr>
          <a:xfrm>
            <a:off x="3494695" y="5766395"/>
            <a:ext cx="246969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Payment Variance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494695" y="5960666"/>
            <a:ext cx="2469691" cy="259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Avg. submitted charges </a:t>
            </a:r>
            <a:r>
              <a:rPr lang="en-US" sz="7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$8,500</a:t>
            </a: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vs. Medicare payment </a:t>
            </a:r>
            <a:r>
              <a:rPr lang="en-US" sz="7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$5,200</a:t>
            </a: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a </a:t>
            </a:r>
            <a:r>
              <a:rPr lang="en-US" sz="7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39% variance</a:t>
            </a: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across the dataset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6126505" y="5665688"/>
            <a:ext cx="2671100" cy="655241"/>
          </a:xfrm>
          <a:prstGeom prst="roundRect">
            <a:avLst>
              <a:gd name="adj" fmla="val 2307"/>
            </a:avLst>
          </a:prstGeom>
          <a:solidFill>
            <a:srgbClr val="F2EEEE"/>
          </a:solidFill>
          <a:ln/>
        </p:spPr>
      </p:sp>
      <p:sp>
        <p:nvSpPr>
          <p:cNvPr id="17" name="Text 13"/>
          <p:cNvSpPr/>
          <p:nvPr/>
        </p:nvSpPr>
        <p:spPr>
          <a:xfrm>
            <a:off x="6227210" y="5766395"/>
            <a:ext cx="246969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Top Utilization Predictors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6227210" y="5960666"/>
            <a:ext cx="2469691" cy="259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Provider type and service code identified as strongest predictors of utilization class in bivariate analysis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8859021" y="5665688"/>
            <a:ext cx="2671200" cy="655241"/>
          </a:xfrm>
          <a:prstGeom prst="roundRect">
            <a:avLst>
              <a:gd name="adj" fmla="val 2307"/>
            </a:avLst>
          </a:prstGeom>
          <a:solidFill>
            <a:srgbClr val="F2EEEE"/>
          </a:solidFill>
          <a:ln/>
        </p:spPr>
      </p:sp>
      <p:sp>
        <p:nvSpPr>
          <p:cNvPr id="20" name="Text 16"/>
          <p:cNvSpPr/>
          <p:nvPr/>
        </p:nvSpPr>
        <p:spPr>
          <a:xfrm>
            <a:off x="8959725" y="5766395"/>
            <a:ext cx="246979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High-Cost Outliers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8959725" y="5960666"/>
            <a:ext cx="2469791" cy="259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Just </a:t>
            </a:r>
            <a:r>
              <a:rPr lang="en-US" sz="7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2%</a:t>
            </a: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providers account for </a:t>
            </a:r>
            <a:r>
              <a:rPr lang="en-US" sz="7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15%</a:t>
            </a: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total Medicare payments — flagged for targeted intervention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74166"/>
            <a:ext cx="1018058" cy="176609"/>
          </a:xfrm>
          <a:prstGeom prst="roundRect">
            <a:avLst>
              <a:gd name="adj" fmla="val 7902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31224" y="508992"/>
            <a:ext cx="1488145" cy="106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MACHINE LEARNING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683419"/>
            <a:ext cx="10868745" cy="363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ML Classification Model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61475" y="1169392"/>
            <a:ext cx="10868745" cy="316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Three classification algorithms were benchmarked against the same training/test split to select the optimal model for provider utilization prediction. Gradient Boosting emerged as the clear winner across all evaluation metrics.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61475" y="1659830"/>
            <a:ext cx="5292593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Model Comparison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33476"/>
            <a:ext cx="5292593" cy="38097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1475" y="5835154"/>
            <a:ext cx="5292593" cy="475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Gradient Boosting outperforms Logistic Regression by </a:t>
            </a:r>
            <a:r>
              <a:rPr lang="en-US" sz="9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11 percentage points</a:t>
            </a: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Random Forest by 2 points — with superior AUC-ROC of </a:t>
            </a:r>
            <a:r>
              <a:rPr lang="en-US" sz="9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0.91</a:t>
            </a: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balanced precision/recall across all three utilization classes.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43977" y="1659830"/>
            <a:ext cx="5292593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Model Performance Detail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43977" y="1933476"/>
            <a:ext cx="2605419" cy="99645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23757" y="2062460"/>
            <a:ext cx="2296658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Target Variable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423757" y="2325886"/>
            <a:ext cx="2296658" cy="475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Provider Utilization Level: </a:t>
            </a:r>
            <a:r>
              <a:rPr lang="en-US" sz="9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Low / Medium / High</a:t>
            </a: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derived from service frequency and total payment volume thresholds</a:t>
            </a:r>
            <a:endParaRPr lang="en-US" sz="9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31151" y="1933476"/>
            <a:ext cx="2605419" cy="99645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10931" y="2062460"/>
            <a:ext cx="2296658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Input Features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9110931" y="2325886"/>
            <a:ext cx="2296658" cy="475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Provider type, state, HCPCS service code, beneficiary count, submitted charges, and historical utilization patterns</a:t>
            </a:r>
            <a:endParaRPr lang="en-US" sz="9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43977" y="3011686"/>
            <a:ext cx="2605419" cy="99645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23757" y="3140670"/>
            <a:ext cx="2296658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Cross-Validation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6423757" y="3404096"/>
            <a:ext cx="2296658" cy="475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5-fold CV confirms model stability: </a:t>
            </a:r>
            <a:r>
              <a:rPr lang="en-US" sz="9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±2% variance</a:t>
            </a: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across folds — no signs of overfitting or class imbalance degradation</a:t>
            </a:r>
            <a:endParaRPr lang="en-US" sz="9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31151" y="3011686"/>
            <a:ext cx="2605419" cy="99645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110931" y="3140670"/>
            <a:ext cx="2296658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Class Accuracy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9110931" y="3404096"/>
            <a:ext cx="2296658" cy="475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Low Utilization: </a:t>
            </a:r>
            <a:r>
              <a:rPr lang="en-US" sz="9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94%</a:t>
            </a: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| Medium: </a:t>
            </a:r>
            <a:r>
              <a:rPr lang="en-US" sz="9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89%</a:t>
            </a: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| High: </a:t>
            </a:r>
            <a:r>
              <a:rPr lang="en-US" sz="9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85%</a:t>
            </a: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performance degrades gracefully at higher complexity classes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54819"/>
            <a:ext cx="690843" cy="125710"/>
          </a:xfrm>
          <a:prstGeom prst="roundRect">
            <a:avLst>
              <a:gd name="adj" fmla="val 7894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11083" y="479623"/>
            <a:ext cx="1201211" cy="76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DASHBOARD 1 OF 3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661475" y="59699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Power BI Dashboard: Executive Overview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61475" y="917476"/>
            <a:ext cx="11478330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Executive Overview dashboard provides C-suite and senior leadership with a single-pane view of Medicare program performance — surfacing KPIs, geographic patterns, and trend signals across the full provider network.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661475" y="1104305"/>
            <a:ext cx="5408576" cy="272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12,540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61475" y="1449487"/>
            <a:ext cx="5408576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Total Providers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1475" y="1603474"/>
            <a:ext cx="5408576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Active in current period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6121644" y="1104305"/>
            <a:ext cx="5408576" cy="272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895K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121644" y="1449487"/>
            <a:ext cx="5408576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Services Rendered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121644" y="1603474"/>
            <a:ext cx="5408576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Total service events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661475" y="1826518"/>
            <a:ext cx="5408576" cy="272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350K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61475" y="2171700"/>
            <a:ext cx="5408576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Beneficiaries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61475" y="2325688"/>
            <a:ext cx="5408576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Unique lives served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6121644" y="1826518"/>
            <a:ext cx="5408576" cy="272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$78.5M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121644" y="2171700"/>
            <a:ext cx="5408576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Medicare Payments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121644" y="2325688"/>
            <a:ext cx="5408576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Total program spend</a:t>
            </a:r>
            <a:endParaRPr lang="en-US" sz="65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517676"/>
            <a:ext cx="5333569" cy="383917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61475" y="6403280"/>
            <a:ext cx="594315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Provider Type Breakdown</a:t>
            </a: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Physicians represent the largest segment (45%) but hospitals carry higher per-event payment weight.</a:t>
            </a:r>
            <a:endParaRPr lang="en-US" sz="65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001" y="2517676"/>
            <a:ext cx="5333569" cy="383917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203001" y="6403280"/>
            <a:ext cx="594315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Place of Service Distribution</a:t>
            </a: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The majority of services (55%) occur in office settings; hospital inpatient at 30% drives disproportionate cost.</a:t>
            </a:r>
            <a:endParaRPr lang="en-US" sz="650" dirty="0"/>
          </a:p>
        </p:txBody>
      </p:sp>
      <p:sp>
        <p:nvSpPr>
          <p:cNvPr id="22" name="Shape 18"/>
          <p:cNvSpPr/>
          <p:nvPr/>
        </p:nvSpPr>
        <p:spPr>
          <a:xfrm>
            <a:off x="661475" y="6586041"/>
            <a:ext cx="10868745" cy="218877"/>
          </a:xfrm>
          <a:prstGeom prst="roundRect">
            <a:avLst>
              <a:gd name="adj" fmla="val 5667"/>
            </a:avLst>
          </a:prstGeom>
          <a:solidFill>
            <a:srgbClr val="CCD7FF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122" y="6647954"/>
            <a:ext cx="103284" cy="82649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30053" y="6647954"/>
            <a:ext cx="1112710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 interactive geographic heatmap in the live Power BI dashboard allows executives to drill into state-level utilization density across all 50 states with top performers highlighted.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56902"/>
            <a:ext cx="884711" cy="160933"/>
          </a:xfrm>
          <a:prstGeom prst="roundRect">
            <a:avLst>
              <a:gd name="adj" fmla="val 7900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24973" y="488652"/>
            <a:ext cx="1367299" cy="97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DASHBOARD 2 OF 3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61475" y="644922"/>
            <a:ext cx="10868745" cy="331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Power BI Dashboard: Provider Performance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661475" y="1077813"/>
            <a:ext cx="1147833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Provider Performance dashboard enables operations and medical management teams to benchmark individual providers, assess utilization class distributions, and drill into performance by type, geography, and service category.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69417"/>
            <a:ext cx="5305193" cy="38187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5264448"/>
            <a:ext cx="5305193" cy="278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Hospitals serve fewer beneficiaries but carry the highest average payment per provider — a key cost concentration signal for executive attention.</a:t>
            </a:r>
            <a:endParaRPr lang="en-US" sz="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377" y="1369417"/>
            <a:ext cx="5305193" cy="381873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31377" y="5264448"/>
            <a:ext cx="5305193" cy="278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ML model classifies </a:t>
            </a:r>
            <a:r>
              <a:rPr lang="en-US" sz="8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20% of providers as High Utilization</a:t>
            </a: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these 2,508 providers represent the primary target population for cost management programs.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661475" y="5679777"/>
            <a:ext cx="3577639" cy="721320"/>
          </a:xfrm>
          <a:prstGeom prst="roundRect">
            <a:avLst>
              <a:gd name="adj" fmla="val 2203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80038" y="5798344"/>
            <a:ext cx="3340513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Top 10 Providers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780038" y="6004520"/>
            <a:ext cx="3340513" cy="278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Ranked by total service count with beneficiary impact, payment volume, and quarter-over-quarter growth indicators for each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4306978" y="5679777"/>
            <a:ext cx="3577639" cy="721320"/>
          </a:xfrm>
          <a:prstGeom prst="roundRect">
            <a:avLst>
              <a:gd name="adj" fmla="val 2203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425542" y="5798344"/>
            <a:ext cx="3340513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Performance KPI Cards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425542" y="6004520"/>
            <a:ext cx="3340513" cy="278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Avg. payment per service | Avg. payment per beneficiary | Avg. payment per provider — updated with each dashboard refresh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7952482" y="5679777"/>
            <a:ext cx="3577639" cy="721320"/>
          </a:xfrm>
          <a:prstGeom prst="roundRect">
            <a:avLst>
              <a:gd name="adj" fmla="val 2203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071045" y="5798344"/>
            <a:ext cx="3340513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Interactive Filters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8071045" y="6004520"/>
            <a:ext cx="3340513" cy="278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State, provider type, and service category slicers enable dynamic drill-down — any combination produces an instant filtered view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75655"/>
            <a:ext cx="777756" cy="141288"/>
          </a:xfrm>
          <a:prstGeom prst="roundRect">
            <a:avLst>
              <a:gd name="adj" fmla="val 7902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17234" y="503535"/>
            <a:ext cx="1275822" cy="85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DASHBOARD 3 OF 3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37778"/>
            <a:ext cx="1086874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Power BI Dashboard: Cost &amp; ML Insights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61475" y="1006971"/>
            <a:ext cx="11478330" cy="116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Cost &amp; ML Insights dashboard bridges financial analytics with model outputs — exposing the highest-cost service lines, payment variance outliers, and ML prediction accuracy in a single operational view.</a:t>
            </a:r>
            <a:endParaRPr lang="en-US" sz="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240929"/>
            <a:ext cx="5875687" cy="40325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5332313"/>
            <a:ext cx="5875687" cy="232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Dialysis alone accounts for </a:t>
            </a:r>
            <a:r>
              <a:rPr lang="en-US" sz="7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$18.2M (23%)</a:t>
            </a: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total Medicare spend — the single highest-cost service category and a primary target for utilization management programs.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6770320" y="1234380"/>
            <a:ext cx="4766151" cy="145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ML Feature Importance</a:t>
            </a:r>
            <a:endParaRPr lang="en-US" sz="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0320" y="1438573"/>
            <a:ext cx="4766151" cy="36163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70320" y="5113734"/>
            <a:ext cx="4766151" cy="232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Provider Type (28%) and Service Code (22%) together explain </a:t>
            </a:r>
            <a:r>
              <a:rPr lang="en-US" sz="7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50% of model variance</a:t>
            </a: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validating EDA findings and confirming the clinical logic of the Gradient Boosting model.</a:t>
            </a:r>
            <a:endParaRPr lang="en-US" sz="700" dirty="0"/>
          </a:p>
        </p:txBody>
      </p:sp>
      <p:sp>
        <p:nvSpPr>
          <p:cNvPr id="11" name="Shape 7"/>
          <p:cNvSpPr/>
          <p:nvPr/>
        </p:nvSpPr>
        <p:spPr>
          <a:xfrm>
            <a:off x="661475" y="5670748"/>
            <a:ext cx="2677946" cy="711498"/>
          </a:xfrm>
          <a:prstGeom prst="roundRect">
            <a:avLst>
              <a:gd name="adj" fmla="val 1961"/>
            </a:avLst>
          </a:prstGeom>
          <a:solidFill>
            <a:srgbClr val="F2EEEE"/>
          </a:solidFill>
          <a:ln/>
        </p:spPr>
      </p:sp>
      <p:sp>
        <p:nvSpPr>
          <p:cNvPr id="12" name="Text 8"/>
          <p:cNvSpPr/>
          <p:nvPr/>
        </p:nvSpPr>
        <p:spPr>
          <a:xfrm>
            <a:off x="754441" y="5763716"/>
            <a:ext cx="2492015" cy="145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Payment Variance Scatter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754441" y="5940425"/>
            <a:ext cx="2492015" cy="348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Scatter plot of submitted charges vs. Medicare payments surfaces the </a:t>
            </a:r>
            <a:r>
              <a:rPr lang="en-US" sz="7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39% average variance</a:t>
            </a: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isolates outlier providers exceeding 2× the mean gap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3391708" y="5670748"/>
            <a:ext cx="2677946" cy="711498"/>
          </a:xfrm>
          <a:prstGeom prst="roundRect">
            <a:avLst>
              <a:gd name="adj" fmla="val 1961"/>
            </a:avLst>
          </a:prstGeom>
          <a:solidFill>
            <a:srgbClr val="F2EEEE"/>
          </a:solidFill>
          <a:ln/>
        </p:spPr>
      </p:sp>
      <p:sp>
        <p:nvSpPr>
          <p:cNvPr id="15" name="Text 11"/>
          <p:cNvSpPr/>
          <p:nvPr/>
        </p:nvSpPr>
        <p:spPr>
          <a:xfrm>
            <a:off x="3484674" y="5763716"/>
            <a:ext cx="2492015" cy="145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Actual vs. Predicted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484674" y="5940425"/>
            <a:ext cx="2492015" cy="348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Line chart overlaying real utilization outcomes against ML predictions confirms </a:t>
            </a:r>
            <a:r>
              <a:rPr lang="en-US" sz="7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89% accuracy</a:t>
            </a: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 production validation across the test holdout set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6121941" y="5670748"/>
            <a:ext cx="2677946" cy="711498"/>
          </a:xfrm>
          <a:prstGeom prst="roundRect">
            <a:avLst>
              <a:gd name="adj" fmla="val 1961"/>
            </a:avLst>
          </a:prstGeom>
          <a:solidFill>
            <a:srgbClr val="F2EEEE"/>
          </a:solidFill>
          <a:ln/>
        </p:spPr>
      </p:sp>
      <p:sp>
        <p:nvSpPr>
          <p:cNvPr id="18" name="Text 14"/>
          <p:cNvSpPr/>
          <p:nvPr/>
        </p:nvSpPr>
        <p:spPr>
          <a:xfrm>
            <a:off x="6214907" y="5763716"/>
            <a:ext cx="2492015" cy="145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Confusion Matrix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6214907" y="5940425"/>
            <a:ext cx="2492015" cy="348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Heatmap of Low/Med/High classification: </a:t>
            </a:r>
            <a:r>
              <a:rPr lang="en-US" sz="7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94% / 89% / 85%</a:t>
            </a: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per-class accuracy — model performs strongest on Low Utilization providers</a:t>
            </a:r>
            <a:endParaRPr lang="en-US" sz="700" dirty="0"/>
          </a:p>
        </p:txBody>
      </p:sp>
      <p:sp>
        <p:nvSpPr>
          <p:cNvPr id="20" name="Shape 16"/>
          <p:cNvSpPr/>
          <p:nvPr/>
        </p:nvSpPr>
        <p:spPr>
          <a:xfrm>
            <a:off x="8852175" y="5670748"/>
            <a:ext cx="2678046" cy="711498"/>
          </a:xfrm>
          <a:prstGeom prst="roundRect">
            <a:avLst>
              <a:gd name="adj" fmla="val 1961"/>
            </a:avLst>
          </a:prstGeom>
          <a:solidFill>
            <a:srgbClr val="F2EEEE"/>
          </a:solidFill>
          <a:ln/>
        </p:spPr>
      </p:sp>
      <p:sp>
        <p:nvSpPr>
          <p:cNvPr id="21" name="Text 17"/>
          <p:cNvSpPr/>
          <p:nvPr/>
        </p:nvSpPr>
        <p:spPr>
          <a:xfrm>
            <a:off x="8945140" y="5763716"/>
            <a:ext cx="2492114" cy="145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High-Cost Outliers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8945140" y="5940425"/>
            <a:ext cx="2492114" cy="348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Scatter plot flags the </a:t>
            </a:r>
            <a:r>
              <a:rPr lang="en-US" sz="7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2% of providers</a:t>
            </a: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driving 15% of total costs — enabling targeted outreach and case management prioritization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1813"/>
            <a:ext cx="679731" cy="168870"/>
          </a:xfrm>
          <a:prstGeom prst="roundRect">
            <a:avLst>
              <a:gd name="adj" fmla="val 7896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28148" y="565150"/>
            <a:ext cx="1155969" cy="10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CONCLUSION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61475" y="730548"/>
            <a:ext cx="10868745" cy="347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Conclusion &amp; Business Impact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661475" y="1189732"/>
            <a:ext cx="10868745" cy="297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end-to-end solution demonstrates that machine learning and Power BI, when tightly integrated, can transform raw Medicare claims data into a continuous, actionable intelligence system for healthcare executives and operations teams.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61475" y="1654870"/>
            <a:ext cx="250025" cy="250031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986110" y="1693069"/>
            <a:ext cx="6088109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End-to-End Solution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86110" y="1941314"/>
            <a:ext cx="6088109" cy="297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Integrated ML pipeline + three Power BI dashboards deliver a complete provider analytics system — from raw ingestion to executive-ready insight — with no manual reporting steps.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61475" y="2387898"/>
            <a:ext cx="250025" cy="250031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986110" y="2426097"/>
            <a:ext cx="6088109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Provider Classification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86110" y="2674342"/>
            <a:ext cx="6088109" cy="297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89% accurate utilization segmentation (Low/Medium/High) enables precision targeting of the 20% of providers classified as High Utilization — the population most likely to benefit from intervention.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61475" y="3120926"/>
            <a:ext cx="250025" cy="250031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986110" y="3159125"/>
            <a:ext cx="6088109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Executive Decision-Making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86110" y="3407370"/>
            <a:ext cx="6088109" cy="297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Real-time dashboards surface cost drivers, performance outliers, and geographic variation — replacing static monthly reports with dynamic, self-service analytics.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61475" y="3853954"/>
            <a:ext cx="250025" cy="250031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986110" y="3892153"/>
            <a:ext cx="6088109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Business Impact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86110" y="4140398"/>
            <a:ext cx="6088109" cy="297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Targeted provider management and service optimization programs enabled by this solution have the potential to reduce Medicare program costs by </a:t>
            </a:r>
            <a:r>
              <a:rPr lang="en-US" sz="8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5–10%</a:t>
            </a: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translating to $4M–$8M in savings on the current $78.5M spend base.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271659" y="1570930"/>
            <a:ext cx="4344780" cy="4755158"/>
          </a:xfrm>
          <a:prstGeom prst="roundRect">
            <a:avLst>
              <a:gd name="adj" fmla="val 384"/>
            </a:avLst>
          </a:prstGeom>
          <a:solidFill>
            <a:srgbClr val="003366"/>
          </a:solidFill>
          <a:ln/>
        </p:spPr>
      </p:sp>
      <p:sp>
        <p:nvSpPr>
          <p:cNvPr id="19" name="Text 17"/>
          <p:cNvSpPr/>
          <p:nvPr/>
        </p:nvSpPr>
        <p:spPr>
          <a:xfrm>
            <a:off x="7382782" y="1645543"/>
            <a:ext cx="4122535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Scalability &amp; Next Steps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82782" y="1903115"/>
            <a:ext cx="222244" cy="1389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382782" y="2079327"/>
            <a:ext cx="4122535" cy="127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2" name="Text 20"/>
          <p:cNvSpPr/>
          <p:nvPr/>
        </p:nvSpPr>
        <p:spPr>
          <a:xfrm>
            <a:off x="7382782" y="2160290"/>
            <a:ext cx="4122535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Monthly Retraining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82782" y="2408535"/>
            <a:ext cx="4122535" cy="297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Model retrains automatically with each new claims batch; dashboards refresh in parallel with no manual intervention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382782" y="2863751"/>
            <a:ext cx="222244" cy="1389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382782" y="3039963"/>
            <a:ext cx="4122535" cy="127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6" name="Text 24"/>
          <p:cNvSpPr/>
          <p:nvPr/>
        </p:nvSpPr>
        <p:spPr>
          <a:xfrm>
            <a:off x="7382782" y="3120926"/>
            <a:ext cx="4122535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Predictive Alerts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82782" y="3369171"/>
            <a:ext cx="4122535" cy="297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Deploy threshold-based alerts for emerging high-cost providers before they breach utilization thresholds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382782" y="3824387"/>
            <a:ext cx="222244" cy="1389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382782" y="4000599"/>
            <a:ext cx="4122535" cy="127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30" name="Text 28"/>
          <p:cNvSpPr/>
          <p:nvPr/>
        </p:nvSpPr>
        <p:spPr>
          <a:xfrm>
            <a:off x="7382782" y="4081562"/>
            <a:ext cx="4122535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Provider Feedback Loops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382782" y="4329807"/>
            <a:ext cx="4122535" cy="297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Implement provider-facing performance reports to close the loop between analytics and care delivery behavior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382782" y="4785023"/>
            <a:ext cx="222244" cy="1389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382782" y="4961235"/>
            <a:ext cx="4122535" cy="1270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34" name="Text 32"/>
          <p:cNvSpPr/>
          <p:nvPr/>
        </p:nvSpPr>
        <p:spPr>
          <a:xfrm>
            <a:off x="7382782" y="5042198"/>
            <a:ext cx="4122535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Model Expansion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382782" y="5290443"/>
            <a:ext cx="4122535" cy="297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Extend classification to predict readmission risk, fraud likelihood, and quality-of-care scores using the same pipeline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382782" y="5754985"/>
            <a:ext cx="4122535" cy="487164"/>
          </a:xfrm>
          <a:prstGeom prst="roundRect">
            <a:avLst>
              <a:gd name="adj" fmla="val 3422"/>
            </a:avLst>
          </a:prstGeom>
          <a:solidFill>
            <a:srgbClr val="183A13"/>
          </a:solidFill>
          <a:ln/>
        </p:spPr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904" y="5868095"/>
            <a:ext cx="138903" cy="111125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7743929" y="5849937"/>
            <a:ext cx="3650266" cy="297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solution is production-ready and extensible — designed to scale as new data sources and business questions emerge.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1796</Words>
  <Application>Microsoft Office PowerPoint</Application>
  <PresentationFormat>Widescreen</PresentationFormat>
  <Paragraphs>191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Crimson Pro SemiBold</vt:lpstr>
      <vt:lpstr>Heebo Bold</vt:lpstr>
      <vt:lpstr>Crimson Pro Light</vt:lpstr>
      <vt:lpstr>Heebo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 D M I N</dc:creator>
  <cp:lastModifiedBy>A D M I N</cp:lastModifiedBy>
  <cp:revision>1</cp:revision>
  <dcterms:created xsi:type="dcterms:W3CDTF">2026-09-23T18:43:22Z</dcterms:created>
  <dcterms:modified xsi:type="dcterms:W3CDTF">2026-09-23T18:46:40Z</dcterms:modified>
</cp:coreProperties>
</file>